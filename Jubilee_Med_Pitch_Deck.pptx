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BILEE_MASTER">
    <p:bg>
      <p:bgPr>
        <a:solidFill>
          <a:srgbClr val="F6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AITH\Downloads\Jubilee\assets\images\jubilee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0"/>
            <a:ext cx="58338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126480" y="0"/>
            <a:ext cx="1188720" cy="6858000"/>
          </a:xfrm>
          <a:prstGeom prst="rect">
            <a:avLst/>
          </a:prstGeom>
          <a:solidFill>
            <a:srgbClr val="0B504B">
              <a:alpha val="96000"/>
            </a:srgbClr>
          </a:solidFill>
          <a:ln w="12700">
            <a:solidFill>
              <a:srgbClr val="0B504B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0080" y="50292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22376" y="576072"/>
            <a:ext cx="256032" cy="256032"/>
          </a:xfrm>
          <a:prstGeom prst="ellipse">
            <a:avLst/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640080"/>
            <a:ext cx="64008" cy="164592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2668" y="690372"/>
            <a:ext cx="164592" cy="64008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70432" y="55778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Jubilee Medical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" y="157276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Jubilee Medical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713232" y="2359152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DF7EF"/>
                </a:solidFill>
              </a:rPr>
              <a:t>Digital healthcare that connects patients, providers, pharmacy, labs, records, and payments.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13232" y="3310128"/>
            <a:ext cx="1691640" cy="347472"/>
          </a:xfrm>
          <a:prstGeom prst="roundRect">
            <a:avLst>
              <a:gd name="adj" fmla="val 13158"/>
            </a:avLst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Beta launch: Aug 2026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560320" y="3310128"/>
            <a:ext cx="1691640" cy="347472"/>
          </a:xfrm>
          <a:prstGeom prst="roundRect">
            <a:avLst>
              <a:gd name="adj" fmla="val 13158"/>
            </a:avLst>
          </a:prstGeom>
          <a:solidFill>
            <a:srgbClr val="DFF4EC"/>
          </a:solidFill>
          <a:ln w="12700">
            <a:solidFill>
              <a:srgbClr val="DFF4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670048" y="340156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504B"/>
                </a:solidFill>
              </a:rPr>
              <a:t>Nigeria first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13232" y="61996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DF7EF"/>
                </a:solidFill>
              </a:rPr>
              <a:t>Pitch deck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5216" y="384048"/>
            <a:ext cx="256032" cy="256032"/>
          </a:xfrm>
          <a:prstGeom prst="ellipse">
            <a:avLst/>
          </a:prstGeom>
          <a:solidFill>
            <a:srgbClr val="DFF4EC"/>
          </a:solidFill>
          <a:ln w="12700">
            <a:solidFill>
              <a:srgbClr val="DFF4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48056"/>
            <a:ext cx="64008" cy="164592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" y="498348"/>
            <a:ext cx="164592" cy="64008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365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Jubilee Medical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8686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6F5B"/>
                </a:solidFill>
              </a:rPr>
              <a:t>PROBLEM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Healthcare journeys are still too fragmented.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34086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C6F6A"/>
                </a:solidFill>
              </a:rPr>
              <a:t>Patients move between phone calls, paper records, cash payments, pharmacies, and labs. Providers lose time because the same care journey is split across disconnected tools.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246120"/>
            <a:ext cx="256032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0392" y="342900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386791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Access delays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0392" y="4233672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Patients struggle to find trusted services, book visits, and receive follow-up instructions.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3520440" y="3246120"/>
            <a:ext cx="256032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85032" y="342900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85032" y="386791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Scattered records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85032" y="4233672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Medical history, lab results, prescriptions, and payment receipts rarely stay in one reliable profile.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6355080" y="3246120"/>
            <a:ext cx="256032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19672" y="342900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F6BD43"/>
          </a:solidFill>
          <a:ln w="12700">
            <a:solidFill>
              <a:srgbClr val="F6BD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9672" y="386791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Provider admin load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19672" y="4233672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Clinics spend too much time on manual queue, billing, inventory, and reporting tasks.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9189720" y="3246120"/>
            <a:ext cx="233172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54312" y="342900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54312" y="3867912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Poor visibility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54312" y="423367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Owners need clearer data on revenue, patient demand, and care operations.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502920" y="6309360"/>
            <a:ext cx="11155680" cy="0"/>
          </a:xfrm>
          <a:prstGeom prst="line">
            <a:avLst/>
          </a:prstGeom>
          <a:noFill/>
          <a:ln w="12700">
            <a:solidFill>
              <a:srgbClr val="D7E6D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F6A"/>
                </a:solidFill>
              </a:rPr>
              <a:t>Jubilee Medical | Digital health made clear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5216" y="384048"/>
            <a:ext cx="256032" cy="256032"/>
          </a:xfrm>
          <a:prstGeom prst="ellipse">
            <a:avLst/>
          </a:prstGeom>
          <a:solidFill>
            <a:srgbClr val="DFF4EC"/>
          </a:solidFill>
          <a:ln w="12700">
            <a:solidFill>
              <a:srgbClr val="DFF4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48056"/>
            <a:ext cx="64008" cy="164592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" y="498348"/>
            <a:ext cx="164592" cy="64008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365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Jubilee Medical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8686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6F5B"/>
                </a:solidFill>
              </a:rPr>
              <a:t>SOLUTION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simple connected health platform.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34086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C6F6A"/>
                </a:solidFill>
              </a:rPr>
              <a:t>Jubilee Medical gives patients one front door for care and gives providers a practical workspace for appointments, EHR, billing, pharmacy, labs, and reports.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246120"/>
            <a:ext cx="107442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3703320"/>
            <a:ext cx="2011680" cy="676656"/>
          </a:xfrm>
          <a:prstGeom prst="roundRect">
            <a:avLst>
              <a:gd name="adj" fmla="val 8108"/>
            </a:avLst>
          </a:prstGeom>
          <a:solidFill>
            <a:srgbClr val="DF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91363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04B"/>
                </a:solidFill>
              </a:rPr>
              <a:t>Patient app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54680" y="3867912"/>
            <a:ext cx="256032" cy="256032"/>
          </a:xfrm>
          <a:prstGeom prst="chevron">
            <a:avLst/>
          </a:prstGeom>
          <a:solidFill>
            <a:srgbClr val="D7E6D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11880" y="3703320"/>
            <a:ext cx="2011680" cy="676656"/>
          </a:xfrm>
          <a:prstGeom prst="roundRect">
            <a:avLst>
              <a:gd name="adj" fmla="val 8108"/>
            </a:avLst>
          </a:prstGeom>
          <a:solidFill>
            <a:srgbClr val="FFF0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11880" y="391363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D2F"/>
                </a:solidFill>
              </a:rPr>
              <a:t>Provider workspace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60720" y="3867912"/>
            <a:ext cx="256032" cy="256032"/>
          </a:xfrm>
          <a:prstGeom prst="chevron">
            <a:avLst/>
          </a:prstGeom>
          <a:solidFill>
            <a:srgbClr val="D7E6D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3703320"/>
            <a:ext cx="2011680" cy="676656"/>
          </a:xfrm>
          <a:prstGeom prst="roundRect">
            <a:avLst>
              <a:gd name="adj" fmla="val 8108"/>
            </a:avLst>
          </a:prstGeom>
          <a:solidFill>
            <a:srgbClr val="F9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391363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33C"/>
                </a:solidFill>
              </a:rPr>
              <a:t>Pharmacy and labs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6760" y="3867912"/>
            <a:ext cx="256032" cy="256032"/>
          </a:xfrm>
          <a:prstGeom prst="chevron">
            <a:avLst/>
          </a:prstGeom>
          <a:solidFill>
            <a:srgbClr val="D7E6D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23960" y="3703320"/>
            <a:ext cx="2011680" cy="676656"/>
          </a:xfrm>
          <a:prstGeom prst="roundRect">
            <a:avLst>
              <a:gd name="adj" fmla="val 8108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23960" y="391363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Payments and reports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6309360"/>
            <a:ext cx="11155680" cy="0"/>
          </a:xfrm>
          <a:prstGeom prst="line">
            <a:avLst/>
          </a:prstGeom>
          <a:noFill/>
          <a:ln w="12700">
            <a:solidFill>
              <a:srgbClr val="D7E6D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F6A"/>
                </a:solidFill>
              </a:rPr>
              <a:t>Jubilee Medical | Digital health made clear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5216" y="384048"/>
            <a:ext cx="256032" cy="256032"/>
          </a:xfrm>
          <a:prstGeom prst="ellipse">
            <a:avLst/>
          </a:prstGeom>
          <a:solidFill>
            <a:srgbClr val="DFF4EC"/>
          </a:solidFill>
          <a:ln w="12700">
            <a:solidFill>
              <a:srgbClr val="DFF4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48056"/>
            <a:ext cx="64008" cy="164592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" y="498348"/>
            <a:ext cx="164592" cy="64008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365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Jubilee Medical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8686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6F5B"/>
                </a:solidFill>
              </a:rPr>
              <a:t>PRODUCT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everyday modules providers need.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34086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C6F6A"/>
                </a:solidFill>
              </a:rPr>
              <a:t>Each module is understandable on its own, but stronger when connected to the same patient record.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2743200"/>
            <a:ext cx="33832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0392" y="292608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3364992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Appointments and queue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0392" y="3730752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Online booking, visit reminders, check-in, triage, and staff calendars.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434840" y="2743200"/>
            <a:ext cx="33832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9432" y="292608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3364992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EHR and consultation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99432" y="3730752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Vitals, diagnosis, notes, documents, e-prescriptions, and follow-up tasks.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183880" y="2743200"/>
            <a:ext cx="33832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48472" y="292608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F6BD43"/>
          </a:solidFill>
          <a:ln w="12700">
            <a:solidFill>
              <a:srgbClr val="F6BD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8472" y="3364992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Pharmacy and lab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8472" y="3730752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Orders, fulfilment status, lab requests, sample tracking, and linked results.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685800" y="4434840"/>
            <a:ext cx="33832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0392" y="461772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17633C"/>
          </a:solidFill>
          <a:ln w="12700">
            <a:solidFill>
              <a:srgbClr val="1763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" y="5056632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Payments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0392" y="5422392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Consultation, medication, lab, subscription, and facility billing receipts.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4434840" y="4434840"/>
            <a:ext cx="33832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9432" y="461772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99432" y="5056632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Patient mobile app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99432" y="5422392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Bookings, records, prescriptions, results, reminders, and care messages.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8183880" y="4434840"/>
            <a:ext cx="33832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48472" y="461772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48472" y="5056632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Analytics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48472" y="5422392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Revenue, visits, demand, staff activity, and operations reporting.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502920" y="6309360"/>
            <a:ext cx="11155680" cy="0"/>
          </a:xfrm>
          <a:prstGeom prst="line">
            <a:avLst/>
          </a:prstGeom>
          <a:noFill/>
          <a:ln w="12700">
            <a:solidFill>
              <a:srgbClr val="D7E6D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F6A"/>
                </a:solidFill>
              </a:rPr>
              <a:t>Jubilee Medical | Digital health made clear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5216" y="384048"/>
            <a:ext cx="256032" cy="256032"/>
          </a:xfrm>
          <a:prstGeom prst="ellipse">
            <a:avLst/>
          </a:prstGeom>
          <a:solidFill>
            <a:srgbClr val="DFF4EC"/>
          </a:solidFill>
          <a:ln w="12700">
            <a:solidFill>
              <a:srgbClr val="DFF4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48056"/>
            <a:ext cx="64008" cy="164592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" y="498348"/>
            <a:ext cx="164592" cy="64008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365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Jubilee Medical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8686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6F5B"/>
                </a:solidFill>
              </a:rPr>
              <a:t>PATIENT JOURNEY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need to follow-up in fewer steps.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34086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C6F6A"/>
                </a:solidFill>
              </a:rPr>
              <a:t>The patient experience is designed around plain choices: find care, book, pay, receive results, and keep the record.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200400"/>
            <a:ext cx="32461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0392" y="3401568"/>
            <a:ext cx="438912" cy="438912"/>
          </a:xfrm>
          <a:prstGeom prst="ellipse">
            <a:avLst/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511296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35608" y="340156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421"/>
                </a:solidFill>
              </a:rPr>
              <a:t>Create profile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35608" y="374904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5C6F6A"/>
                </a:solidFill>
              </a:rPr>
              <a:t>Patients add basic details, allergies, emergency contacts, and insurance information.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4480560" y="3200400"/>
            <a:ext cx="32461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45152" y="3401568"/>
            <a:ext cx="438912" cy="438912"/>
          </a:xfrm>
          <a:prstGeom prst="ellipse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64024" y="3511296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30368" y="340156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421"/>
                </a:solidFill>
              </a:rPr>
              <a:t>Book or consult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30368" y="374904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5C6F6A"/>
                </a:solidFill>
              </a:rPr>
              <a:t>They choose doctor, pharmacy, lab, teleconsultation, or follow-up service.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8275320" y="3200400"/>
            <a:ext cx="32461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39912" y="3401568"/>
            <a:ext cx="438912" cy="438912"/>
          </a:xfrm>
          <a:prstGeom prst="ellipse">
            <a:avLst/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58784" y="3511296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025128" y="340156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421"/>
                </a:solidFill>
              </a:rPr>
              <a:t>Keep the record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025128" y="374904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5C6F6A"/>
                </a:solidFill>
              </a:rPr>
              <a:t>Prescriptions, lab results, receipts, and care notes stay in one account.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502920" y="6309360"/>
            <a:ext cx="11155680" cy="0"/>
          </a:xfrm>
          <a:prstGeom prst="line">
            <a:avLst/>
          </a:prstGeom>
          <a:noFill/>
          <a:ln w="12700">
            <a:solidFill>
              <a:srgbClr val="D7E6D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F6A"/>
                </a:solidFill>
              </a:rPr>
              <a:t>Jubilee Medical | Digital health made clear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5216" y="384048"/>
            <a:ext cx="256032" cy="256032"/>
          </a:xfrm>
          <a:prstGeom prst="ellipse">
            <a:avLst/>
          </a:prstGeom>
          <a:solidFill>
            <a:srgbClr val="DFF4EC"/>
          </a:solidFill>
          <a:ln w="12700">
            <a:solidFill>
              <a:srgbClr val="DFF4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48056"/>
            <a:ext cx="64008" cy="164592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" y="498348"/>
            <a:ext cx="164592" cy="64008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365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Jubilee Medical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8686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6F5B"/>
                </a:solidFill>
              </a:rPr>
              <a:t>PROVIDER WORKFLOW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care journey, one operational view.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34086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C6F6A"/>
                </a:solidFill>
              </a:rPr>
              <a:t>Jubilee Medical supports the way a clinic actually works from reception to consultation, billing, fulfilment, and reporting.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3401568"/>
            <a:ext cx="987552" cy="987552"/>
          </a:xfrm>
          <a:prstGeom prst="ellipse">
            <a:avLst/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36758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460857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421"/>
                </a:solidFill>
              </a:rPr>
              <a:t>Booking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764792" y="3895344"/>
            <a:ext cx="786384" cy="0"/>
          </a:xfrm>
          <a:prstGeom prst="line">
            <a:avLst/>
          </a:prstGeom>
          <a:noFill/>
          <a:ln w="25400">
            <a:solidFill>
              <a:srgbClr val="D7E6DF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606040" y="3401568"/>
            <a:ext cx="987552" cy="987552"/>
          </a:xfrm>
          <a:prstGeom prst="ellipse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62656" y="36758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23160" y="460857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421"/>
                </a:solidFill>
              </a:rPr>
              <a:t>Check-in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93592" y="3895344"/>
            <a:ext cx="786384" cy="0"/>
          </a:xfrm>
          <a:prstGeom prst="line">
            <a:avLst/>
          </a:prstGeom>
          <a:noFill/>
          <a:ln w="25400">
            <a:solidFill>
              <a:srgbClr val="D7E6DF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434840" y="3401568"/>
            <a:ext cx="987552" cy="987552"/>
          </a:xfrm>
          <a:prstGeom prst="ellipse">
            <a:avLst/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1456" y="36758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51960" y="460857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421"/>
                </a:solidFill>
              </a:rPr>
              <a:t>Consult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22392" y="3895344"/>
            <a:ext cx="786384" cy="0"/>
          </a:xfrm>
          <a:prstGeom prst="line">
            <a:avLst/>
          </a:prstGeom>
          <a:noFill/>
          <a:ln w="25400">
            <a:solidFill>
              <a:srgbClr val="D7E6DF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63640" y="3401568"/>
            <a:ext cx="987552" cy="987552"/>
          </a:xfrm>
          <a:prstGeom prst="ellipse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0256" y="36758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80760" y="460857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421"/>
                </a:solidFill>
              </a:rPr>
              <a:t>Orders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51192" y="3895344"/>
            <a:ext cx="786384" cy="0"/>
          </a:xfrm>
          <a:prstGeom prst="line">
            <a:avLst/>
          </a:prstGeom>
          <a:noFill/>
          <a:ln w="25400">
            <a:solidFill>
              <a:srgbClr val="D7E6D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092440" y="3401568"/>
            <a:ext cx="987552" cy="987552"/>
          </a:xfrm>
          <a:prstGeom prst="ellipse">
            <a:avLst/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49056" y="36758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909560" y="460857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421"/>
                </a:solidFill>
              </a:rPr>
              <a:t>Payment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079992" y="3895344"/>
            <a:ext cx="786384" cy="0"/>
          </a:xfrm>
          <a:prstGeom prst="line">
            <a:avLst/>
          </a:prstGeom>
          <a:noFill/>
          <a:ln w="25400">
            <a:solidFill>
              <a:srgbClr val="D7E6DF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921240" y="3401568"/>
            <a:ext cx="987552" cy="987552"/>
          </a:xfrm>
          <a:prstGeom prst="ellipse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77856" y="36758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38360" y="460857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421"/>
                </a:solidFill>
              </a:rPr>
              <a:t>Follow-up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6309360"/>
            <a:ext cx="11155680" cy="0"/>
          </a:xfrm>
          <a:prstGeom prst="line">
            <a:avLst/>
          </a:prstGeom>
          <a:noFill/>
          <a:ln w="12700">
            <a:solidFill>
              <a:srgbClr val="D7E6D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F6A"/>
                </a:solidFill>
              </a:rPr>
              <a:t>Jubilee Medical | Digital health made clear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5216" y="384048"/>
            <a:ext cx="256032" cy="256032"/>
          </a:xfrm>
          <a:prstGeom prst="ellipse">
            <a:avLst/>
          </a:prstGeom>
          <a:solidFill>
            <a:srgbClr val="DFF4EC"/>
          </a:solidFill>
          <a:ln w="12700">
            <a:solidFill>
              <a:srgbClr val="DFF4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48056"/>
            <a:ext cx="64008" cy="164592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" y="498348"/>
            <a:ext cx="164592" cy="64008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365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Jubilee Medical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8686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6F5B"/>
                </a:solidFill>
              </a:rPr>
              <a:t>OPPORTUNITY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practical digital layer for local healthcare.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34086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C6F6A"/>
                </a:solidFill>
              </a:rPr>
              <a:t>Jubilee Medical starts with Nigeria and focuses on providers and patients who need affordable, easy-to-understand tools that fit daily care delivery.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063240"/>
            <a:ext cx="5074920" cy="2057400"/>
          </a:xfrm>
          <a:prstGeom prst="roundRect">
            <a:avLst>
              <a:gd name="adj" fmla="val 2667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Primary users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38404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DF7EF"/>
                </a:solidFill>
              </a:rPr>
              <a:t>Patients, clinics, hospitals, pharmacies, laboratories, employer health programs, and health partners.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251460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6792" y="324612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36792" y="3685032"/>
            <a:ext cx="2185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Demand drivers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36792" y="405079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Convenience, continuity of records, faster billing, remote care, and stronger provider operations.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9006840" y="3063240"/>
            <a:ext cx="251460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1432" y="324612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F6BD43"/>
          </a:solidFill>
          <a:ln w="12700">
            <a:solidFill>
              <a:srgbClr val="F6BD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71432" y="3685032"/>
            <a:ext cx="2185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Expansion path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71432" y="405079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Start with pilots, grow provider network, then layer payments, insurance, and partner services.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502920" y="6309360"/>
            <a:ext cx="11155680" cy="0"/>
          </a:xfrm>
          <a:prstGeom prst="line">
            <a:avLst/>
          </a:prstGeom>
          <a:noFill/>
          <a:ln w="12700">
            <a:solidFill>
              <a:srgbClr val="D7E6D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F6A"/>
                </a:solidFill>
              </a:rPr>
              <a:t>Jubilee Medical | Digital health made clear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5216" y="384048"/>
            <a:ext cx="256032" cy="256032"/>
          </a:xfrm>
          <a:prstGeom prst="ellipse">
            <a:avLst/>
          </a:prstGeom>
          <a:solidFill>
            <a:srgbClr val="DFF4EC"/>
          </a:solidFill>
          <a:ln w="12700">
            <a:solidFill>
              <a:srgbClr val="DFF4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48056"/>
            <a:ext cx="64008" cy="164592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" y="498348"/>
            <a:ext cx="164592" cy="64008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365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Jubilee Medical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8686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6F5B"/>
                </a:solidFill>
              </a:rPr>
              <a:t>BUSINESS MODEL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Multiple revenue lines from one platform.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34086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C6F6A"/>
                </a:solidFill>
              </a:rPr>
              <a:t>The product can begin with provider subscriptions and expand into transaction and partner revenue as usage grows.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0632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0392" y="324612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368503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Provider SaaS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0392" y="4050792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Monthly plans for clinics, hospitals, pharmacies, and labs based on users and modules.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3520440" y="30632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85032" y="324612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85032" y="368503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Transactions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85032" y="4050792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Small platform fee on paid bookings, pharmacy orders, lab orders, and teleconsultations.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6355080" y="30632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19672" y="324612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F6BD43"/>
          </a:solidFill>
          <a:ln w="12700">
            <a:solidFill>
              <a:srgbClr val="F6BD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9672" y="368503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Setup and training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19672" y="4050792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Onboarding, migration support, facility setup, staff training, and workflow configuration.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9189720" y="3063240"/>
            <a:ext cx="233172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54312" y="324612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54312" y="3685032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Partners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54312" y="4050792"/>
            <a:ext cx="2002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Employer care programs, insurance workflows, referral networks, and integrations.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502920" y="6309360"/>
            <a:ext cx="11155680" cy="0"/>
          </a:xfrm>
          <a:prstGeom prst="line">
            <a:avLst/>
          </a:prstGeom>
          <a:noFill/>
          <a:ln w="12700">
            <a:solidFill>
              <a:srgbClr val="D7E6D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F6A"/>
                </a:solidFill>
              </a:rPr>
              <a:t>Jubilee Medical | Digital health made clear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5216" y="384048"/>
            <a:ext cx="256032" cy="256032"/>
          </a:xfrm>
          <a:prstGeom prst="ellipse">
            <a:avLst/>
          </a:prstGeom>
          <a:solidFill>
            <a:srgbClr val="DFF4EC"/>
          </a:solidFill>
          <a:ln w="12700">
            <a:solidFill>
              <a:srgbClr val="DFF4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48056"/>
            <a:ext cx="64008" cy="164592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" y="498348"/>
            <a:ext cx="164592" cy="64008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365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Jubilee Medical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8686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6F5B"/>
                </a:solidFill>
              </a:rPr>
              <a:t>GO TO MARKET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 locally with focused pilots.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34086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C6F6A"/>
                </a:solidFill>
              </a:rPr>
              <a:t>The fastest route is to onboard care teams that already feel the pain of scattered tools and patient follow-up gaps.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200400"/>
            <a:ext cx="32461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0392" y="3401568"/>
            <a:ext cx="438912" cy="438912"/>
          </a:xfrm>
          <a:prstGeom prst="ellipse">
            <a:avLst/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511296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35608" y="340156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421"/>
                </a:solidFill>
              </a:rPr>
              <a:t>Pilot facilities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35608" y="374904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5C6F6A"/>
                </a:solidFill>
              </a:rPr>
              <a:t>Start with selected clinics, pharmacies, and labs in one city to validate workflows.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4480560" y="3200400"/>
            <a:ext cx="32461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45152" y="3401568"/>
            <a:ext cx="438912" cy="438912"/>
          </a:xfrm>
          <a:prstGeom prst="ellipse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64024" y="3511296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30368" y="340156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421"/>
                </a:solidFill>
              </a:rPr>
              <a:t>Patient acquisition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30368" y="374904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5C6F6A"/>
                </a:solidFill>
              </a:rPr>
              <a:t>Use provider referrals, community health campaigns, and clear app onboarding.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8275320" y="3200400"/>
            <a:ext cx="32461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39912" y="3401568"/>
            <a:ext cx="438912" cy="438912"/>
          </a:xfrm>
          <a:prstGeom prst="ellipse">
            <a:avLst/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58784" y="3511296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025128" y="340156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421"/>
                </a:solidFill>
              </a:rPr>
              <a:t>Partner growth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025128" y="374904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5C6F6A"/>
                </a:solidFill>
              </a:rPr>
              <a:t>Add employer groups, diagnostics partners, pharmacies, and payment partnerships.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502920" y="6309360"/>
            <a:ext cx="11155680" cy="0"/>
          </a:xfrm>
          <a:prstGeom prst="line">
            <a:avLst/>
          </a:prstGeom>
          <a:noFill/>
          <a:ln w="12700">
            <a:solidFill>
              <a:srgbClr val="D7E6D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F6A"/>
                </a:solidFill>
              </a:rPr>
              <a:t>Jubilee Medical | Digital health made clear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5216" y="384048"/>
            <a:ext cx="256032" cy="256032"/>
          </a:xfrm>
          <a:prstGeom prst="ellipse">
            <a:avLst/>
          </a:prstGeom>
          <a:solidFill>
            <a:srgbClr val="DFF4EC"/>
          </a:solidFill>
          <a:ln w="12700">
            <a:solidFill>
              <a:srgbClr val="DFF4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448056"/>
            <a:ext cx="64008" cy="164592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" y="498348"/>
            <a:ext cx="164592" cy="64008"/>
          </a:xfrm>
          <a:prstGeom prst="rect">
            <a:avLst/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3657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Jubilee Medical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8686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6F5B"/>
                </a:solidFill>
              </a:rPr>
              <a:t>ROADMAP AND ASK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324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Build, pilot, measure, and scale.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34086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C6F6A"/>
                </a:solidFill>
              </a:rPr>
              <a:t>Jubilee Medical needs product completion, compliance review, pilot partners, and launch support to move from beta concept to live healthcare operations.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297180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0392" y="315468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3593592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Next 90 days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0392" y="3959352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Finalize beta, prepare provider onboarding, test appointment, EHR, pharmacy, lab, payment, and reporting flows.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434840" y="297180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9432" y="315468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F26F5B"/>
          </a:solidFill>
          <a:ln w="12700">
            <a:solidFill>
              <a:srgbClr val="F26F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3593592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Pilot goals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99432" y="3959352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Launch with early providers, monitor appointment volume, retention, payment success, and care follow-up.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183880" y="297180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7E6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48472" y="3154680"/>
            <a:ext cx="310896" cy="310896"/>
          </a:xfrm>
          <a:prstGeom prst="roundRect">
            <a:avLst>
              <a:gd name="adj" fmla="val 11765"/>
            </a:avLst>
          </a:prstGeom>
          <a:solidFill>
            <a:srgbClr val="F6BD43"/>
          </a:solidFill>
          <a:ln w="12700">
            <a:solidFill>
              <a:srgbClr val="F6BD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8472" y="3593592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421"/>
                </a:solidFill>
              </a:rPr>
              <a:t>What we need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8472" y="3959352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C6F6A"/>
                </a:solidFill>
              </a:rPr>
              <a:t>Pilot partners, technical build support, compliance guidance, payment partnerships, and launch capital.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685800" y="5230368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0B504B"/>
          </a:solidFill>
          <a:ln w="12700">
            <a:solidFill>
              <a:srgbClr val="0B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5440680"/>
            <a:ext cx="10241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hello@jubileemedical.health  |  +234 800 000 0000  |  Lagos, Nigeria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6309360"/>
            <a:ext cx="11155680" cy="0"/>
          </a:xfrm>
          <a:prstGeom prst="line">
            <a:avLst/>
          </a:prstGeom>
          <a:noFill/>
          <a:ln w="12700">
            <a:solidFill>
              <a:srgbClr val="D7E6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6446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F6A"/>
                </a:solidFill>
              </a:rPr>
              <a:t>Jubilee Medical | Digital health made clear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B8C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Jubilee Medical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Jubilee Medical Pitch Deck</dc:title>
  <dc:subject>Jubilee Medical digital health platform pitch deck</dc:subject>
  <dc:creator>Jubilee Medical</dc:creator>
  <cp:lastModifiedBy>Jubilee Medical</cp:lastModifiedBy>
  <cp:revision>1</cp:revision>
  <dcterms:created xsi:type="dcterms:W3CDTF">2026-05-04T15:02:15Z</dcterms:created>
  <dcterms:modified xsi:type="dcterms:W3CDTF">2026-05-04T15:02:15Z</dcterms:modified>
</cp:coreProperties>
</file>