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JUBILEE_MASTER">
    <p:bg>
      <p:bgPr>
        <a:solidFill>
          <a:srgbClr val="F6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5566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7B8C87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5566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7B8C87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50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FAITH\Downloads\Jubilee\assets\images\jubilee-her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55080" y="0"/>
            <a:ext cx="583387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126480" y="0"/>
            <a:ext cx="1188720" cy="6858000"/>
          </a:xfrm>
          <a:prstGeom prst="rect">
            <a:avLst/>
          </a:prstGeom>
          <a:solidFill>
            <a:srgbClr val="0B504B">
              <a:alpha val="96000"/>
            </a:srgbClr>
          </a:solidFill>
          <a:ln w="12700">
            <a:solidFill>
              <a:srgbClr val="0B504B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640080" y="502920"/>
            <a:ext cx="420624" cy="420624"/>
          </a:xfrm>
          <a:prstGeom prst="roundRect">
            <a:avLst>
              <a:gd name="adj" fmla="val 1521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722376" y="576072"/>
            <a:ext cx="256032" cy="256032"/>
          </a:xfrm>
          <a:prstGeom prst="ellipse">
            <a:avLst/>
          </a:prstGeom>
          <a:solidFill>
            <a:srgbClr val="0B504B"/>
          </a:solidFill>
          <a:ln w="12700">
            <a:solidFill>
              <a:srgbClr val="0B504B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22960" y="640080"/>
            <a:ext cx="64008" cy="164592"/>
          </a:xfrm>
          <a:prstGeom prst="rect">
            <a:avLst/>
          </a:prstGeom>
          <a:solidFill>
            <a:srgbClr val="F26F5B"/>
          </a:solidFill>
          <a:ln w="12700">
            <a:solidFill>
              <a:srgbClr val="F26F5B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72668" y="690372"/>
            <a:ext cx="164592" cy="64008"/>
          </a:xfrm>
          <a:prstGeom prst="rect">
            <a:avLst/>
          </a:prstGeom>
          <a:solidFill>
            <a:srgbClr val="F26F5B"/>
          </a:solidFill>
          <a:ln w="12700">
            <a:solidFill>
              <a:srgbClr val="F26F5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170432" y="557784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Jubilee Med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685800" y="1572768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Jubilee Med</a:t>
            </a:r>
            <a:endParaRPr lang="en-US" sz="4200" dirty="0"/>
          </a:p>
        </p:txBody>
      </p:sp>
      <p:sp>
        <p:nvSpPr>
          <p:cNvPr id="10" name="Text 7"/>
          <p:cNvSpPr/>
          <p:nvPr/>
        </p:nvSpPr>
        <p:spPr>
          <a:xfrm>
            <a:off x="713232" y="2359152"/>
            <a:ext cx="4983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DDF7EF"/>
                </a:solidFill>
              </a:rPr>
              <a:t>Digital healthcare that connects patients, providers, pharmacy, labs, records, and payments.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713232" y="3310128"/>
            <a:ext cx="1691640" cy="347472"/>
          </a:xfrm>
          <a:prstGeom prst="roundRect">
            <a:avLst>
              <a:gd name="adj" fmla="val 13158"/>
            </a:avLst>
          </a:prstGeom>
          <a:solidFill>
            <a:srgbClr val="F26F5B"/>
          </a:solidFill>
          <a:ln w="12700">
            <a:solidFill>
              <a:srgbClr val="F26F5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3401568"/>
            <a:ext cx="1463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Beta launch: Aug 2026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2560320" y="3310128"/>
            <a:ext cx="1691640" cy="347472"/>
          </a:xfrm>
          <a:prstGeom prst="roundRect">
            <a:avLst>
              <a:gd name="adj" fmla="val 13158"/>
            </a:avLst>
          </a:prstGeom>
          <a:solidFill>
            <a:srgbClr val="DFF4EC"/>
          </a:solidFill>
          <a:ln w="12700">
            <a:solidFill>
              <a:srgbClr val="DFF4E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670048" y="3401568"/>
            <a:ext cx="1463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B504B"/>
                </a:solidFill>
              </a:rPr>
              <a:t>Nigeria first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713232" y="619963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DF7EF"/>
                </a:solidFill>
              </a:rPr>
              <a:t>Pitch deck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5566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7B8C87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10896"/>
            <a:ext cx="420624" cy="420624"/>
          </a:xfrm>
          <a:prstGeom prst="roundRect">
            <a:avLst>
              <a:gd name="adj" fmla="val 15217"/>
            </a:avLst>
          </a:prstGeom>
          <a:solidFill>
            <a:srgbClr val="0B504B"/>
          </a:solidFill>
          <a:ln w="12700">
            <a:solidFill>
              <a:srgbClr val="0B50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85216" y="384048"/>
            <a:ext cx="256032" cy="256032"/>
          </a:xfrm>
          <a:prstGeom prst="ellipse">
            <a:avLst/>
          </a:prstGeom>
          <a:solidFill>
            <a:srgbClr val="DFF4EC"/>
          </a:solidFill>
          <a:ln w="12700">
            <a:solidFill>
              <a:srgbClr val="DFF4E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" y="448056"/>
            <a:ext cx="64008" cy="164592"/>
          </a:xfrm>
          <a:prstGeom prst="rect">
            <a:avLst/>
          </a:prstGeom>
          <a:solidFill>
            <a:srgbClr val="F26F5B"/>
          </a:solidFill>
          <a:ln w="12700">
            <a:solidFill>
              <a:srgbClr val="F26F5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35508" y="498348"/>
            <a:ext cx="164592" cy="64008"/>
          </a:xfrm>
          <a:prstGeom prst="rect">
            <a:avLst/>
          </a:prstGeom>
          <a:solidFill>
            <a:srgbClr val="F26F5B"/>
          </a:solidFill>
          <a:ln w="12700">
            <a:solidFill>
              <a:srgbClr val="F26F5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33272" y="36576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3242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Jubilee Med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58368" y="868680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26F5B"/>
                </a:solidFill>
              </a:rPr>
              <a:t>PROBLEM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40080" y="1170432"/>
            <a:ext cx="5074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3242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Healthcare journeys are still too fragmented.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658368" y="2340864"/>
            <a:ext cx="4892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5C6F6A"/>
                </a:solidFill>
              </a:rPr>
              <a:t>Patients move between phone calls, paper records, cash payments, pharmacies, and labs. Providers lose time because the same care journey is split across disconnected tools.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85800" y="3246120"/>
            <a:ext cx="2560320" cy="155448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D7E6D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50392" y="3429000"/>
            <a:ext cx="310896" cy="310896"/>
          </a:xfrm>
          <a:prstGeom prst="roundRect">
            <a:avLst>
              <a:gd name="adj" fmla="val 11765"/>
            </a:avLst>
          </a:prstGeom>
          <a:solidFill>
            <a:srgbClr val="F26F5B"/>
          </a:solidFill>
          <a:ln w="12700">
            <a:solidFill>
              <a:srgbClr val="F26F5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0392" y="3867912"/>
            <a:ext cx="2231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421"/>
                </a:solidFill>
              </a:rPr>
              <a:t>Access delays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50392" y="4233672"/>
            <a:ext cx="22311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5C6F6A"/>
                </a:solidFill>
              </a:rPr>
              <a:t>Patients struggle to find trusted services, book visits, and receive follow-up instructions.</a:t>
            </a:r>
            <a:endParaRPr lang="en-US" sz="1020" dirty="0"/>
          </a:p>
        </p:txBody>
      </p:sp>
      <p:sp>
        <p:nvSpPr>
          <p:cNvPr id="14" name="Shape 12"/>
          <p:cNvSpPr/>
          <p:nvPr/>
        </p:nvSpPr>
        <p:spPr>
          <a:xfrm>
            <a:off x="3520440" y="3246120"/>
            <a:ext cx="2560320" cy="155448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D7E6D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85032" y="3429000"/>
            <a:ext cx="310896" cy="310896"/>
          </a:xfrm>
          <a:prstGeom prst="roundRect">
            <a:avLst>
              <a:gd name="adj" fmla="val 11765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85032" y="3867912"/>
            <a:ext cx="2231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421"/>
                </a:solidFill>
              </a:rPr>
              <a:t>Scattered records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685032" y="4233672"/>
            <a:ext cx="22311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5C6F6A"/>
                </a:solidFill>
              </a:rPr>
              <a:t>Medical history, lab results, prescriptions, and payment receipts rarely stay in one reliable profile.</a:t>
            </a:r>
            <a:endParaRPr lang="en-US" sz="1020" dirty="0"/>
          </a:p>
        </p:txBody>
      </p:sp>
      <p:sp>
        <p:nvSpPr>
          <p:cNvPr id="18" name="Shape 16"/>
          <p:cNvSpPr/>
          <p:nvPr/>
        </p:nvSpPr>
        <p:spPr>
          <a:xfrm>
            <a:off x="6355080" y="3246120"/>
            <a:ext cx="2560320" cy="155448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D7E6D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19672" y="3429000"/>
            <a:ext cx="310896" cy="310896"/>
          </a:xfrm>
          <a:prstGeom prst="roundRect">
            <a:avLst>
              <a:gd name="adj" fmla="val 11765"/>
            </a:avLst>
          </a:prstGeom>
          <a:solidFill>
            <a:srgbClr val="F6BD43"/>
          </a:solidFill>
          <a:ln w="12700">
            <a:solidFill>
              <a:srgbClr val="F6BD4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19672" y="3867912"/>
            <a:ext cx="2231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421"/>
                </a:solidFill>
              </a:rPr>
              <a:t>Provider admin load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519672" y="4233672"/>
            <a:ext cx="22311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5C6F6A"/>
                </a:solidFill>
              </a:rPr>
              <a:t>Clinics spend too much time on manual queue, billing, inventory, and reporting tasks.</a:t>
            </a:r>
            <a:endParaRPr lang="en-US" sz="1020" dirty="0"/>
          </a:p>
        </p:txBody>
      </p:sp>
      <p:sp>
        <p:nvSpPr>
          <p:cNvPr id="22" name="Shape 20"/>
          <p:cNvSpPr/>
          <p:nvPr/>
        </p:nvSpPr>
        <p:spPr>
          <a:xfrm>
            <a:off x="9189720" y="3246120"/>
            <a:ext cx="2331720" cy="155448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D7E6D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354312" y="3429000"/>
            <a:ext cx="310896" cy="310896"/>
          </a:xfrm>
          <a:prstGeom prst="roundRect">
            <a:avLst>
              <a:gd name="adj" fmla="val 11765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354312" y="3867912"/>
            <a:ext cx="20025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421"/>
                </a:solidFill>
              </a:rPr>
              <a:t>Poor visibility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9354312" y="4233672"/>
            <a:ext cx="20025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5C6F6A"/>
                </a:solidFill>
              </a:rPr>
              <a:t>Owners need clearer data on revenue, patient demand, and care operations.</a:t>
            </a:r>
            <a:endParaRPr lang="en-US" sz="1020" dirty="0"/>
          </a:p>
        </p:txBody>
      </p:sp>
      <p:sp>
        <p:nvSpPr>
          <p:cNvPr id="26" name="Shape 24"/>
          <p:cNvSpPr/>
          <p:nvPr/>
        </p:nvSpPr>
        <p:spPr>
          <a:xfrm>
            <a:off x="502920" y="6309360"/>
            <a:ext cx="11155680" cy="0"/>
          </a:xfrm>
          <a:prstGeom prst="line">
            <a:avLst/>
          </a:prstGeom>
          <a:noFill/>
          <a:ln w="12700">
            <a:solidFill>
              <a:srgbClr val="D7E6D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" y="6446520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C6F6A"/>
                </a:solidFill>
              </a:rPr>
              <a:t>Jubilee Med | Digital health made clear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5566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7B8C87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10896"/>
            <a:ext cx="420624" cy="420624"/>
          </a:xfrm>
          <a:prstGeom prst="roundRect">
            <a:avLst>
              <a:gd name="adj" fmla="val 15217"/>
            </a:avLst>
          </a:prstGeom>
          <a:solidFill>
            <a:srgbClr val="0B504B"/>
          </a:solidFill>
          <a:ln w="12700">
            <a:solidFill>
              <a:srgbClr val="0B50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85216" y="384048"/>
            <a:ext cx="256032" cy="256032"/>
          </a:xfrm>
          <a:prstGeom prst="ellipse">
            <a:avLst/>
          </a:prstGeom>
          <a:solidFill>
            <a:srgbClr val="DFF4EC"/>
          </a:solidFill>
          <a:ln w="12700">
            <a:solidFill>
              <a:srgbClr val="DFF4E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" y="448056"/>
            <a:ext cx="64008" cy="164592"/>
          </a:xfrm>
          <a:prstGeom prst="rect">
            <a:avLst/>
          </a:prstGeom>
          <a:solidFill>
            <a:srgbClr val="F26F5B"/>
          </a:solidFill>
          <a:ln w="12700">
            <a:solidFill>
              <a:srgbClr val="F26F5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35508" y="498348"/>
            <a:ext cx="164592" cy="64008"/>
          </a:xfrm>
          <a:prstGeom prst="rect">
            <a:avLst/>
          </a:prstGeom>
          <a:solidFill>
            <a:srgbClr val="F26F5B"/>
          </a:solidFill>
          <a:ln w="12700">
            <a:solidFill>
              <a:srgbClr val="F26F5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33272" y="36576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3242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Jubilee Med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58368" y="868680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26F5B"/>
                </a:solidFill>
              </a:rPr>
              <a:t>SOLUTION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40080" y="1170432"/>
            <a:ext cx="5074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3242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simple connected health platform.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658368" y="2340864"/>
            <a:ext cx="4892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5C6F6A"/>
                </a:solidFill>
              </a:rPr>
              <a:t>Jubilee Med gives patients one front door for care and gives providers a practical workspace for appointments, EHR, billing, pharmacy, labs, and reports.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31520" y="3246120"/>
            <a:ext cx="1074420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7E6D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05840" y="3703320"/>
            <a:ext cx="2011680" cy="676656"/>
          </a:xfrm>
          <a:prstGeom prst="roundRect">
            <a:avLst>
              <a:gd name="adj" fmla="val 8108"/>
            </a:avLst>
          </a:prstGeom>
          <a:solidFill>
            <a:srgbClr val="DFF4E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05840" y="3913632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504B"/>
                </a:solidFill>
              </a:rPr>
              <a:t>Patient app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154680" y="3867912"/>
            <a:ext cx="256032" cy="256032"/>
          </a:xfrm>
          <a:prstGeom prst="chevron">
            <a:avLst/>
          </a:prstGeom>
          <a:solidFill>
            <a:srgbClr val="D7E6DF"/>
          </a:solidFill>
          <a:ln w="12700">
            <a:solidFill>
              <a:srgbClr val="D7E6D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11880" y="3703320"/>
            <a:ext cx="2011680" cy="676656"/>
          </a:xfrm>
          <a:prstGeom prst="roundRect">
            <a:avLst>
              <a:gd name="adj" fmla="val 8108"/>
            </a:avLst>
          </a:prstGeom>
          <a:solidFill>
            <a:srgbClr val="FFF0E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11880" y="3913632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33D2F"/>
                </a:solidFill>
              </a:rPr>
              <a:t>Provider workspace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760720" y="3867912"/>
            <a:ext cx="256032" cy="256032"/>
          </a:xfrm>
          <a:prstGeom prst="chevron">
            <a:avLst/>
          </a:prstGeom>
          <a:solidFill>
            <a:srgbClr val="D7E6DF"/>
          </a:solidFill>
          <a:ln w="12700">
            <a:solidFill>
              <a:srgbClr val="D7E6D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17920" y="3703320"/>
            <a:ext cx="2011680" cy="676656"/>
          </a:xfrm>
          <a:prstGeom prst="roundRect">
            <a:avLst>
              <a:gd name="adj" fmla="val 8108"/>
            </a:avLst>
          </a:prstGeom>
          <a:solidFill>
            <a:srgbClr val="F9F3D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17920" y="3913632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633C"/>
                </a:solidFill>
              </a:rPr>
              <a:t>Pharmacy and labs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366760" y="3867912"/>
            <a:ext cx="256032" cy="256032"/>
          </a:xfrm>
          <a:prstGeom prst="chevron">
            <a:avLst/>
          </a:prstGeom>
          <a:solidFill>
            <a:srgbClr val="D7E6DF"/>
          </a:solidFill>
          <a:ln w="12700">
            <a:solidFill>
              <a:srgbClr val="D7E6D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823960" y="3703320"/>
            <a:ext cx="2011680" cy="676656"/>
          </a:xfrm>
          <a:prstGeom prst="roundRect">
            <a:avLst>
              <a:gd name="adj" fmla="val 8108"/>
            </a:avLst>
          </a:prstGeom>
          <a:solidFill>
            <a:srgbClr val="EFF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823960" y="3913632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D4ED8"/>
                </a:solidFill>
              </a:rPr>
              <a:t>Payments and reports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02920" y="6309360"/>
            <a:ext cx="11155680" cy="0"/>
          </a:xfrm>
          <a:prstGeom prst="line">
            <a:avLst/>
          </a:prstGeom>
          <a:noFill/>
          <a:ln w="12700">
            <a:solidFill>
              <a:srgbClr val="D7E6D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6446520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C6F6A"/>
                </a:solidFill>
              </a:rPr>
              <a:t>Jubilee Med | Digital health made clear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5566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7B8C87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10896"/>
            <a:ext cx="420624" cy="420624"/>
          </a:xfrm>
          <a:prstGeom prst="roundRect">
            <a:avLst>
              <a:gd name="adj" fmla="val 15217"/>
            </a:avLst>
          </a:prstGeom>
          <a:solidFill>
            <a:srgbClr val="0B504B"/>
          </a:solidFill>
          <a:ln w="12700">
            <a:solidFill>
              <a:srgbClr val="0B50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85216" y="384048"/>
            <a:ext cx="256032" cy="256032"/>
          </a:xfrm>
          <a:prstGeom prst="ellipse">
            <a:avLst/>
          </a:prstGeom>
          <a:solidFill>
            <a:srgbClr val="DFF4EC"/>
          </a:solidFill>
          <a:ln w="12700">
            <a:solidFill>
              <a:srgbClr val="DFF4E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" y="448056"/>
            <a:ext cx="64008" cy="164592"/>
          </a:xfrm>
          <a:prstGeom prst="rect">
            <a:avLst/>
          </a:prstGeom>
          <a:solidFill>
            <a:srgbClr val="F26F5B"/>
          </a:solidFill>
          <a:ln w="12700">
            <a:solidFill>
              <a:srgbClr val="F26F5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35508" y="498348"/>
            <a:ext cx="164592" cy="64008"/>
          </a:xfrm>
          <a:prstGeom prst="rect">
            <a:avLst/>
          </a:prstGeom>
          <a:solidFill>
            <a:srgbClr val="F26F5B"/>
          </a:solidFill>
          <a:ln w="12700">
            <a:solidFill>
              <a:srgbClr val="F26F5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33272" y="36576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3242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Jubilee Med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58368" y="868680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26F5B"/>
                </a:solidFill>
              </a:rPr>
              <a:t>PRODUCT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40080" y="1170432"/>
            <a:ext cx="5074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3242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everyday modules providers need.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658368" y="2340864"/>
            <a:ext cx="4892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5C6F6A"/>
                </a:solidFill>
              </a:rPr>
              <a:t>Each module is understandable on its own, but stronger when connected to the same patient record.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85800" y="2743200"/>
            <a:ext cx="338328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D7E6D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50392" y="2926080"/>
            <a:ext cx="310896" cy="310896"/>
          </a:xfrm>
          <a:prstGeom prst="roundRect">
            <a:avLst>
              <a:gd name="adj" fmla="val 11765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0392" y="3364992"/>
            <a:ext cx="3054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421"/>
                </a:solidFill>
              </a:rPr>
              <a:t>Appointments and queue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50392" y="3730752"/>
            <a:ext cx="3054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5C6F6A"/>
                </a:solidFill>
              </a:rPr>
              <a:t>Online booking, visit reminders, check-in, triage, and staff calendars.</a:t>
            </a:r>
            <a:endParaRPr lang="en-US" sz="1020" dirty="0"/>
          </a:p>
        </p:txBody>
      </p:sp>
      <p:sp>
        <p:nvSpPr>
          <p:cNvPr id="14" name="Shape 12"/>
          <p:cNvSpPr/>
          <p:nvPr/>
        </p:nvSpPr>
        <p:spPr>
          <a:xfrm>
            <a:off x="4434840" y="2743200"/>
            <a:ext cx="338328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D7E6D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99432" y="2926080"/>
            <a:ext cx="310896" cy="310896"/>
          </a:xfrm>
          <a:prstGeom prst="roundRect">
            <a:avLst>
              <a:gd name="adj" fmla="val 11765"/>
            </a:avLst>
          </a:prstGeom>
          <a:solidFill>
            <a:srgbClr val="F26F5B"/>
          </a:solidFill>
          <a:ln w="12700">
            <a:solidFill>
              <a:srgbClr val="F26F5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99432" y="3364992"/>
            <a:ext cx="3054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421"/>
                </a:solidFill>
              </a:rPr>
              <a:t>EHR and consultation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599432" y="3730752"/>
            <a:ext cx="3054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5C6F6A"/>
                </a:solidFill>
              </a:rPr>
              <a:t>Vitals, diagnosis, notes, documents, e-prescriptions, and follow-up tasks.</a:t>
            </a:r>
            <a:endParaRPr lang="en-US" sz="1020" dirty="0"/>
          </a:p>
        </p:txBody>
      </p:sp>
      <p:sp>
        <p:nvSpPr>
          <p:cNvPr id="18" name="Shape 16"/>
          <p:cNvSpPr/>
          <p:nvPr/>
        </p:nvSpPr>
        <p:spPr>
          <a:xfrm>
            <a:off x="8183880" y="2743200"/>
            <a:ext cx="338328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D7E6D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348472" y="2926080"/>
            <a:ext cx="310896" cy="310896"/>
          </a:xfrm>
          <a:prstGeom prst="roundRect">
            <a:avLst>
              <a:gd name="adj" fmla="val 11765"/>
            </a:avLst>
          </a:prstGeom>
          <a:solidFill>
            <a:srgbClr val="F6BD43"/>
          </a:solidFill>
          <a:ln w="12700">
            <a:solidFill>
              <a:srgbClr val="F6BD4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348472" y="3364992"/>
            <a:ext cx="3054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421"/>
                </a:solidFill>
              </a:rPr>
              <a:t>Pharmacy and lab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348472" y="3730752"/>
            <a:ext cx="3054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5C6F6A"/>
                </a:solidFill>
              </a:rPr>
              <a:t>Orders, fulfilment status, lab requests, sample tracking, and linked results.</a:t>
            </a:r>
            <a:endParaRPr lang="en-US" sz="1020" dirty="0"/>
          </a:p>
        </p:txBody>
      </p:sp>
      <p:sp>
        <p:nvSpPr>
          <p:cNvPr id="22" name="Shape 20"/>
          <p:cNvSpPr/>
          <p:nvPr/>
        </p:nvSpPr>
        <p:spPr>
          <a:xfrm>
            <a:off x="685800" y="4434840"/>
            <a:ext cx="338328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D7E6D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50392" y="4617720"/>
            <a:ext cx="310896" cy="310896"/>
          </a:xfrm>
          <a:prstGeom prst="roundRect">
            <a:avLst>
              <a:gd name="adj" fmla="val 11765"/>
            </a:avLst>
          </a:prstGeom>
          <a:solidFill>
            <a:srgbClr val="17633C"/>
          </a:solidFill>
          <a:ln w="12700">
            <a:solidFill>
              <a:srgbClr val="17633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50392" y="5056632"/>
            <a:ext cx="3054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421"/>
                </a:solidFill>
              </a:rPr>
              <a:t>Payments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850392" y="5422392"/>
            <a:ext cx="3054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5C6F6A"/>
                </a:solidFill>
              </a:rPr>
              <a:t>Consultation, medication, lab, subscription, and facility billing receipts.</a:t>
            </a:r>
            <a:endParaRPr lang="en-US" sz="1020" dirty="0"/>
          </a:p>
        </p:txBody>
      </p:sp>
      <p:sp>
        <p:nvSpPr>
          <p:cNvPr id="26" name="Shape 24"/>
          <p:cNvSpPr/>
          <p:nvPr/>
        </p:nvSpPr>
        <p:spPr>
          <a:xfrm>
            <a:off x="4434840" y="4434840"/>
            <a:ext cx="338328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D7E6D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599432" y="4617720"/>
            <a:ext cx="310896" cy="310896"/>
          </a:xfrm>
          <a:prstGeom prst="roundRect">
            <a:avLst>
              <a:gd name="adj" fmla="val 11765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99432" y="5056632"/>
            <a:ext cx="3054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421"/>
                </a:solidFill>
              </a:rPr>
              <a:t>Patient mobile app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4599432" y="5422392"/>
            <a:ext cx="3054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5C6F6A"/>
                </a:solidFill>
              </a:rPr>
              <a:t>Bookings, records, prescriptions, results, reminders, and care messages.</a:t>
            </a:r>
            <a:endParaRPr lang="en-US" sz="1020" dirty="0"/>
          </a:p>
        </p:txBody>
      </p:sp>
      <p:sp>
        <p:nvSpPr>
          <p:cNvPr id="30" name="Shape 28"/>
          <p:cNvSpPr/>
          <p:nvPr/>
        </p:nvSpPr>
        <p:spPr>
          <a:xfrm>
            <a:off x="8183880" y="4434840"/>
            <a:ext cx="338328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D7E6D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348472" y="4617720"/>
            <a:ext cx="310896" cy="310896"/>
          </a:xfrm>
          <a:prstGeom prst="roundRect">
            <a:avLst>
              <a:gd name="adj" fmla="val 11765"/>
            </a:avLst>
          </a:prstGeom>
          <a:solidFill>
            <a:srgbClr val="0B504B"/>
          </a:solidFill>
          <a:ln w="12700">
            <a:solidFill>
              <a:srgbClr val="0B504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348472" y="5056632"/>
            <a:ext cx="3054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421"/>
                </a:solidFill>
              </a:rPr>
              <a:t>Analytics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8348472" y="5422392"/>
            <a:ext cx="3054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5C6F6A"/>
                </a:solidFill>
              </a:rPr>
              <a:t>Revenue, visits, demand, staff activity, and operations reporting.</a:t>
            </a:r>
            <a:endParaRPr lang="en-US" sz="1020" dirty="0"/>
          </a:p>
        </p:txBody>
      </p:sp>
      <p:sp>
        <p:nvSpPr>
          <p:cNvPr id="34" name="Shape 32"/>
          <p:cNvSpPr/>
          <p:nvPr/>
        </p:nvSpPr>
        <p:spPr>
          <a:xfrm>
            <a:off x="502920" y="6309360"/>
            <a:ext cx="11155680" cy="0"/>
          </a:xfrm>
          <a:prstGeom prst="line">
            <a:avLst/>
          </a:prstGeom>
          <a:noFill/>
          <a:ln w="12700">
            <a:solidFill>
              <a:srgbClr val="D7E6D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02920" y="6446520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C6F6A"/>
                </a:solidFill>
              </a:rPr>
              <a:t>Jubilee Med | Digital health made clear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5566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7B8C87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10896"/>
            <a:ext cx="420624" cy="420624"/>
          </a:xfrm>
          <a:prstGeom prst="roundRect">
            <a:avLst>
              <a:gd name="adj" fmla="val 15217"/>
            </a:avLst>
          </a:prstGeom>
          <a:solidFill>
            <a:srgbClr val="0B504B"/>
          </a:solidFill>
          <a:ln w="12700">
            <a:solidFill>
              <a:srgbClr val="0B50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85216" y="384048"/>
            <a:ext cx="256032" cy="256032"/>
          </a:xfrm>
          <a:prstGeom prst="ellipse">
            <a:avLst/>
          </a:prstGeom>
          <a:solidFill>
            <a:srgbClr val="DFF4EC"/>
          </a:solidFill>
          <a:ln w="12700">
            <a:solidFill>
              <a:srgbClr val="DFF4E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" y="448056"/>
            <a:ext cx="64008" cy="164592"/>
          </a:xfrm>
          <a:prstGeom prst="rect">
            <a:avLst/>
          </a:prstGeom>
          <a:solidFill>
            <a:srgbClr val="F26F5B"/>
          </a:solidFill>
          <a:ln w="12700">
            <a:solidFill>
              <a:srgbClr val="F26F5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35508" y="498348"/>
            <a:ext cx="164592" cy="64008"/>
          </a:xfrm>
          <a:prstGeom prst="rect">
            <a:avLst/>
          </a:prstGeom>
          <a:solidFill>
            <a:srgbClr val="F26F5B"/>
          </a:solidFill>
          <a:ln w="12700">
            <a:solidFill>
              <a:srgbClr val="F26F5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33272" y="36576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3242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Jubilee Med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58368" y="868680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26F5B"/>
                </a:solidFill>
              </a:rPr>
              <a:t>PATIENT JOURNEY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40080" y="1170432"/>
            <a:ext cx="5074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3242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From need to follow-up in fewer steps.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658368" y="2340864"/>
            <a:ext cx="4892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5C6F6A"/>
                </a:solidFill>
              </a:rPr>
              <a:t>The patient experience is designed around plain choices: find care, book, pay, receive results, and keep the record.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85800" y="3200400"/>
            <a:ext cx="3246120" cy="1426464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D7E6D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50392" y="3401568"/>
            <a:ext cx="438912" cy="438912"/>
          </a:xfrm>
          <a:prstGeom prst="ellipse">
            <a:avLst/>
          </a:prstGeom>
          <a:solidFill>
            <a:srgbClr val="0B504B"/>
          </a:solidFill>
          <a:ln w="12700">
            <a:solidFill>
              <a:srgbClr val="0B504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9264" y="3511296"/>
            <a:ext cx="201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435608" y="3401568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421"/>
                </a:solidFill>
              </a:rPr>
              <a:t>Create profile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435608" y="3749040"/>
            <a:ext cx="21762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5C6F6A"/>
                </a:solidFill>
              </a:rPr>
              <a:t>Patients add basic details, allergies, emergency contacts, and insurance information.</a:t>
            </a:r>
            <a:endParaRPr lang="en-US" sz="960" dirty="0"/>
          </a:p>
        </p:txBody>
      </p:sp>
      <p:sp>
        <p:nvSpPr>
          <p:cNvPr id="15" name="Shape 13"/>
          <p:cNvSpPr/>
          <p:nvPr/>
        </p:nvSpPr>
        <p:spPr>
          <a:xfrm>
            <a:off x="4480560" y="3200400"/>
            <a:ext cx="3246120" cy="1426464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D7E6D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45152" y="3401568"/>
            <a:ext cx="438912" cy="438912"/>
          </a:xfrm>
          <a:prstGeom prst="ellipse">
            <a:avLst/>
          </a:prstGeom>
          <a:solidFill>
            <a:srgbClr val="F26F5B"/>
          </a:solidFill>
          <a:ln w="12700">
            <a:solidFill>
              <a:srgbClr val="F26F5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64024" y="3511296"/>
            <a:ext cx="201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230368" y="3401568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421"/>
                </a:solidFill>
              </a:rPr>
              <a:t>Book or consult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230368" y="3749040"/>
            <a:ext cx="21762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5C6F6A"/>
                </a:solidFill>
              </a:rPr>
              <a:t>They choose doctor, pharmacy, lab, teleconsultation, or follow-up service.</a:t>
            </a:r>
            <a:endParaRPr lang="en-US" sz="960" dirty="0"/>
          </a:p>
        </p:txBody>
      </p:sp>
      <p:sp>
        <p:nvSpPr>
          <p:cNvPr id="20" name="Shape 18"/>
          <p:cNvSpPr/>
          <p:nvPr/>
        </p:nvSpPr>
        <p:spPr>
          <a:xfrm>
            <a:off x="8275320" y="3200400"/>
            <a:ext cx="3246120" cy="1426464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D7E6D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439912" y="3401568"/>
            <a:ext cx="438912" cy="438912"/>
          </a:xfrm>
          <a:prstGeom prst="ellipse">
            <a:avLst/>
          </a:prstGeom>
          <a:solidFill>
            <a:srgbClr val="0B504B"/>
          </a:solidFill>
          <a:ln w="12700">
            <a:solidFill>
              <a:srgbClr val="0B504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558784" y="3511296"/>
            <a:ext cx="201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9025128" y="3401568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421"/>
                </a:solidFill>
              </a:rPr>
              <a:t>Keep the record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9025128" y="3749040"/>
            <a:ext cx="21762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5C6F6A"/>
                </a:solidFill>
              </a:rPr>
              <a:t>Prescriptions, lab results, receipts, and care notes stay in one account.</a:t>
            </a:r>
            <a:endParaRPr lang="en-US" sz="960" dirty="0"/>
          </a:p>
        </p:txBody>
      </p:sp>
      <p:sp>
        <p:nvSpPr>
          <p:cNvPr id="25" name="Shape 23"/>
          <p:cNvSpPr/>
          <p:nvPr/>
        </p:nvSpPr>
        <p:spPr>
          <a:xfrm>
            <a:off x="502920" y="6309360"/>
            <a:ext cx="11155680" cy="0"/>
          </a:xfrm>
          <a:prstGeom prst="line">
            <a:avLst/>
          </a:prstGeom>
          <a:noFill/>
          <a:ln w="12700">
            <a:solidFill>
              <a:srgbClr val="D7E6D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" y="6446520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C6F6A"/>
                </a:solidFill>
              </a:rPr>
              <a:t>Jubilee Med | Digital health made clear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5566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7B8C87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10896"/>
            <a:ext cx="420624" cy="420624"/>
          </a:xfrm>
          <a:prstGeom prst="roundRect">
            <a:avLst>
              <a:gd name="adj" fmla="val 15217"/>
            </a:avLst>
          </a:prstGeom>
          <a:solidFill>
            <a:srgbClr val="0B504B"/>
          </a:solidFill>
          <a:ln w="12700">
            <a:solidFill>
              <a:srgbClr val="0B50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85216" y="384048"/>
            <a:ext cx="256032" cy="256032"/>
          </a:xfrm>
          <a:prstGeom prst="ellipse">
            <a:avLst/>
          </a:prstGeom>
          <a:solidFill>
            <a:srgbClr val="DFF4EC"/>
          </a:solidFill>
          <a:ln w="12700">
            <a:solidFill>
              <a:srgbClr val="DFF4E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" y="448056"/>
            <a:ext cx="64008" cy="164592"/>
          </a:xfrm>
          <a:prstGeom prst="rect">
            <a:avLst/>
          </a:prstGeom>
          <a:solidFill>
            <a:srgbClr val="F26F5B"/>
          </a:solidFill>
          <a:ln w="12700">
            <a:solidFill>
              <a:srgbClr val="F26F5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35508" y="498348"/>
            <a:ext cx="164592" cy="64008"/>
          </a:xfrm>
          <a:prstGeom prst="rect">
            <a:avLst/>
          </a:prstGeom>
          <a:solidFill>
            <a:srgbClr val="F26F5B"/>
          </a:solidFill>
          <a:ln w="12700">
            <a:solidFill>
              <a:srgbClr val="F26F5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33272" y="36576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3242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Jubilee Med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58368" y="868680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26F5B"/>
                </a:solidFill>
              </a:rPr>
              <a:t>PROVIDER WORKFLOW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40080" y="1170432"/>
            <a:ext cx="5074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3242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One care journey, one operational view.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658368" y="2340864"/>
            <a:ext cx="4892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5C6F6A"/>
                </a:solidFill>
              </a:rPr>
              <a:t>Jubilee Med supports the way a clinic actually works from reception to consultation, billing, fulfilment, and reporting.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77240" y="3401568"/>
            <a:ext cx="987552" cy="987552"/>
          </a:xfrm>
          <a:prstGeom prst="ellipse">
            <a:avLst/>
          </a:prstGeom>
          <a:solidFill>
            <a:srgbClr val="0B504B"/>
          </a:solidFill>
          <a:ln w="12700">
            <a:solidFill>
              <a:srgbClr val="0B504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33856" y="3675888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94360" y="4608576"/>
            <a:ext cx="1353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32421"/>
                </a:solidFill>
              </a:rPr>
              <a:t>Booking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764792" y="3895344"/>
            <a:ext cx="786384" cy="0"/>
          </a:xfrm>
          <a:prstGeom prst="line">
            <a:avLst/>
          </a:prstGeom>
          <a:noFill/>
          <a:ln w="25400">
            <a:solidFill>
              <a:srgbClr val="D7E6DF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2606040" y="3401568"/>
            <a:ext cx="987552" cy="987552"/>
          </a:xfrm>
          <a:prstGeom prst="ellipse">
            <a:avLst/>
          </a:prstGeom>
          <a:solidFill>
            <a:srgbClr val="F26F5B"/>
          </a:solidFill>
          <a:ln w="12700">
            <a:solidFill>
              <a:srgbClr val="F26F5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962656" y="3675888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423160" y="4608576"/>
            <a:ext cx="1353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32421"/>
                </a:solidFill>
              </a:rPr>
              <a:t>Check-in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593592" y="3895344"/>
            <a:ext cx="786384" cy="0"/>
          </a:xfrm>
          <a:prstGeom prst="line">
            <a:avLst/>
          </a:prstGeom>
          <a:noFill/>
          <a:ln w="25400">
            <a:solidFill>
              <a:srgbClr val="D7E6DF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4434840" y="3401568"/>
            <a:ext cx="987552" cy="987552"/>
          </a:xfrm>
          <a:prstGeom prst="ellipse">
            <a:avLst/>
          </a:prstGeom>
          <a:solidFill>
            <a:srgbClr val="0B504B"/>
          </a:solidFill>
          <a:ln w="12700">
            <a:solidFill>
              <a:srgbClr val="0B504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91456" y="3675888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251960" y="4608576"/>
            <a:ext cx="1353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32421"/>
                </a:solidFill>
              </a:rPr>
              <a:t>Consult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422392" y="3895344"/>
            <a:ext cx="786384" cy="0"/>
          </a:xfrm>
          <a:prstGeom prst="line">
            <a:avLst/>
          </a:prstGeom>
          <a:noFill/>
          <a:ln w="25400">
            <a:solidFill>
              <a:srgbClr val="D7E6DF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6263640" y="3401568"/>
            <a:ext cx="987552" cy="987552"/>
          </a:xfrm>
          <a:prstGeom prst="ellipse">
            <a:avLst/>
          </a:prstGeom>
          <a:solidFill>
            <a:srgbClr val="F26F5B"/>
          </a:solidFill>
          <a:ln w="12700">
            <a:solidFill>
              <a:srgbClr val="F26F5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620256" y="3675888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080760" y="4608576"/>
            <a:ext cx="1353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32421"/>
                </a:solidFill>
              </a:rPr>
              <a:t>Orders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7251192" y="3895344"/>
            <a:ext cx="786384" cy="0"/>
          </a:xfrm>
          <a:prstGeom prst="line">
            <a:avLst/>
          </a:prstGeom>
          <a:noFill/>
          <a:ln w="25400">
            <a:solidFill>
              <a:srgbClr val="D7E6DF"/>
            </a:solidFill>
            <a:prstDash val="solid"/>
            <a:headEnd type="none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8092440" y="3401568"/>
            <a:ext cx="987552" cy="987552"/>
          </a:xfrm>
          <a:prstGeom prst="ellipse">
            <a:avLst/>
          </a:prstGeom>
          <a:solidFill>
            <a:srgbClr val="0B504B"/>
          </a:solidFill>
          <a:ln w="12700">
            <a:solidFill>
              <a:srgbClr val="0B504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449056" y="3675888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7909560" y="4608576"/>
            <a:ext cx="1353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32421"/>
                </a:solidFill>
              </a:rPr>
              <a:t>Payment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9079992" y="3895344"/>
            <a:ext cx="786384" cy="0"/>
          </a:xfrm>
          <a:prstGeom prst="line">
            <a:avLst/>
          </a:prstGeom>
          <a:noFill/>
          <a:ln w="25400">
            <a:solidFill>
              <a:srgbClr val="D7E6DF"/>
            </a:solidFill>
            <a:prstDash val="solid"/>
            <a:headEnd type="none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9921240" y="3401568"/>
            <a:ext cx="987552" cy="987552"/>
          </a:xfrm>
          <a:prstGeom prst="ellipse">
            <a:avLst/>
          </a:prstGeom>
          <a:solidFill>
            <a:srgbClr val="F26F5B"/>
          </a:solidFill>
          <a:ln w="12700">
            <a:solidFill>
              <a:srgbClr val="F26F5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277856" y="3675888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6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9738360" y="4608576"/>
            <a:ext cx="1353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32421"/>
                </a:solidFill>
              </a:rPr>
              <a:t>Follow-up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502920" y="6309360"/>
            <a:ext cx="11155680" cy="0"/>
          </a:xfrm>
          <a:prstGeom prst="line">
            <a:avLst/>
          </a:prstGeom>
          <a:noFill/>
          <a:ln w="12700">
            <a:solidFill>
              <a:srgbClr val="D7E6D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02920" y="6446520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C6F6A"/>
                </a:solidFill>
              </a:rPr>
              <a:t>Jubilee Med | Digital health made clear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5566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7B8C87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10896"/>
            <a:ext cx="420624" cy="420624"/>
          </a:xfrm>
          <a:prstGeom prst="roundRect">
            <a:avLst>
              <a:gd name="adj" fmla="val 15217"/>
            </a:avLst>
          </a:prstGeom>
          <a:solidFill>
            <a:srgbClr val="0B504B"/>
          </a:solidFill>
          <a:ln w="12700">
            <a:solidFill>
              <a:srgbClr val="0B50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85216" y="384048"/>
            <a:ext cx="256032" cy="256032"/>
          </a:xfrm>
          <a:prstGeom prst="ellipse">
            <a:avLst/>
          </a:prstGeom>
          <a:solidFill>
            <a:srgbClr val="DFF4EC"/>
          </a:solidFill>
          <a:ln w="12700">
            <a:solidFill>
              <a:srgbClr val="DFF4E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" y="448056"/>
            <a:ext cx="64008" cy="164592"/>
          </a:xfrm>
          <a:prstGeom prst="rect">
            <a:avLst/>
          </a:prstGeom>
          <a:solidFill>
            <a:srgbClr val="F26F5B"/>
          </a:solidFill>
          <a:ln w="12700">
            <a:solidFill>
              <a:srgbClr val="F26F5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35508" y="498348"/>
            <a:ext cx="164592" cy="64008"/>
          </a:xfrm>
          <a:prstGeom prst="rect">
            <a:avLst/>
          </a:prstGeom>
          <a:solidFill>
            <a:srgbClr val="F26F5B"/>
          </a:solidFill>
          <a:ln w="12700">
            <a:solidFill>
              <a:srgbClr val="F26F5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33272" y="36576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3242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Jubilee Med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58368" y="868680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26F5B"/>
                </a:solidFill>
              </a:rPr>
              <a:t>OPPORTUNITY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40080" y="1170432"/>
            <a:ext cx="5074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3242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practical digital layer for local healthcare.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658368" y="2340864"/>
            <a:ext cx="4892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5C6F6A"/>
                </a:solidFill>
              </a:rPr>
              <a:t>Jubilee Med starts with Nigeria and focuses on providers and patients who need affordable, easy-to-understand tools that fit daily care delivery.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31520" y="3063240"/>
            <a:ext cx="5074920" cy="2057400"/>
          </a:xfrm>
          <a:prstGeom prst="roundRect">
            <a:avLst>
              <a:gd name="adj" fmla="val 2667"/>
            </a:avLst>
          </a:prstGeom>
          <a:solidFill>
            <a:srgbClr val="0B504B"/>
          </a:solidFill>
          <a:ln w="12700">
            <a:solidFill>
              <a:srgbClr val="0B504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24128" y="340156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Primary users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24128" y="3840480"/>
            <a:ext cx="4389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DDF7EF"/>
                </a:solidFill>
              </a:rPr>
              <a:t>Patients, clinics, hospitals, pharmacies, laboratories, employer health programs, and health partners.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172200" y="3063240"/>
            <a:ext cx="2514600" cy="20574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D7E6D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36792" y="3246120"/>
            <a:ext cx="310896" cy="310896"/>
          </a:xfrm>
          <a:prstGeom prst="roundRect">
            <a:avLst>
              <a:gd name="adj" fmla="val 11765"/>
            </a:avLst>
          </a:prstGeom>
          <a:solidFill>
            <a:srgbClr val="F26F5B"/>
          </a:solidFill>
          <a:ln w="12700">
            <a:solidFill>
              <a:srgbClr val="F26F5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36792" y="3685032"/>
            <a:ext cx="21854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421"/>
                </a:solidFill>
              </a:rPr>
              <a:t>Demand drivers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336792" y="4050792"/>
            <a:ext cx="21854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5C6F6A"/>
                </a:solidFill>
              </a:rPr>
              <a:t>Convenience, continuity of records, faster billing, remote care, and stronger provider operations.</a:t>
            </a:r>
            <a:endParaRPr lang="en-US" sz="1020" dirty="0"/>
          </a:p>
        </p:txBody>
      </p:sp>
      <p:sp>
        <p:nvSpPr>
          <p:cNvPr id="17" name="Shape 15"/>
          <p:cNvSpPr/>
          <p:nvPr/>
        </p:nvSpPr>
        <p:spPr>
          <a:xfrm>
            <a:off x="9006840" y="3063240"/>
            <a:ext cx="2514600" cy="20574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D7E6D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171432" y="3246120"/>
            <a:ext cx="310896" cy="310896"/>
          </a:xfrm>
          <a:prstGeom prst="roundRect">
            <a:avLst>
              <a:gd name="adj" fmla="val 11765"/>
            </a:avLst>
          </a:prstGeom>
          <a:solidFill>
            <a:srgbClr val="F6BD43"/>
          </a:solidFill>
          <a:ln w="12700">
            <a:solidFill>
              <a:srgbClr val="F6BD4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71432" y="3685032"/>
            <a:ext cx="21854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421"/>
                </a:solidFill>
              </a:rPr>
              <a:t>Expansion path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9171432" y="4050792"/>
            <a:ext cx="21854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5C6F6A"/>
                </a:solidFill>
              </a:rPr>
              <a:t>Start with pilots, grow provider network, then layer payments, insurance, and partner services.</a:t>
            </a:r>
            <a:endParaRPr lang="en-US" sz="1020" dirty="0"/>
          </a:p>
        </p:txBody>
      </p:sp>
      <p:sp>
        <p:nvSpPr>
          <p:cNvPr id="21" name="Shape 19"/>
          <p:cNvSpPr/>
          <p:nvPr/>
        </p:nvSpPr>
        <p:spPr>
          <a:xfrm>
            <a:off x="502920" y="6309360"/>
            <a:ext cx="11155680" cy="0"/>
          </a:xfrm>
          <a:prstGeom prst="line">
            <a:avLst/>
          </a:prstGeom>
          <a:noFill/>
          <a:ln w="12700">
            <a:solidFill>
              <a:srgbClr val="D7E6D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6446520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C6F6A"/>
                </a:solidFill>
              </a:rPr>
              <a:t>Jubilee Med | Digital health made clear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5566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7B8C87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10896"/>
            <a:ext cx="420624" cy="420624"/>
          </a:xfrm>
          <a:prstGeom prst="roundRect">
            <a:avLst>
              <a:gd name="adj" fmla="val 15217"/>
            </a:avLst>
          </a:prstGeom>
          <a:solidFill>
            <a:srgbClr val="0B504B"/>
          </a:solidFill>
          <a:ln w="12700">
            <a:solidFill>
              <a:srgbClr val="0B50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85216" y="384048"/>
            <a:ext cx="256032" cy="256032"/>
          </a:xfrm>
          <a:prstGeom prst="ellipse">
            <a:avLst/>
          </a:prstGeom>
          <a:solidFill>
            <a:srgbClr val="DFF4EC"/>
          </a:solidFill>
          <a:ln w="12700">
            <a:solidFill>
              <a:srgbClr val="DFF4E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" y="448056"/>
            <a:ext cx="64008" cy="164592"/>
          </a:xfrm>
          <a:prstGeom prst="rect">
            <a:avLst/>
          </a:prstGeom>
          <a:solidFill>
            <a:srgbClr val="F26F5B"/>
          </a:solidFill>
          <a:ln w="12700">
            <a:solidFill>
              <a:srgbClr val="F26F5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35508" y="498348"/>
            <a:ext cx="164592" cy="64008"/>
          </a:xfrm>
          <a:prstGeom prst="rect">
            <a:avLst/>
          </a:prstGeom>
          <a:solidFill>
            <a:srgbClr val="F26F5B"/>
          </a:solidFill>
          <a:ln w="12700">
            <a:solidFill>
              <a:srgbClr val="F26F5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33272" y="36576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3242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Jubilee Med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58368" y="868680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26F5B"/>
                </a:solidFill>
              </a:rPr>
              <a:t>BUSINESS MODEL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40080" y="1170432"/>
            <a:ext cx="5074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3242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Multiple revenue lines from one platform.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658368" y="2340864"/>
            <a:ext cx="4892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5C6F6A"/>
                </a:solidFill>
              </a:rPr>
              <a:t>The product can begin with provider subscriptions and expand into transaction and partner revenue as usage grows.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85800" y="3063240"/>
            <a:ext cx="2560320" cy="150876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7E6D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50392" y="3246120"/>
            <a:ext cx="310896" cy="310896"/>
          </a:xfrm>
          <a:prstGeom prst="roundRect">
            <a:avLst>
              <a:gd name="adj" fmla="val 11765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0392" y="3685032"/>
            <a:ext cx="2231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421"/>
                </a:solidFill>
              </a:rPr>
              <a:t>Provider SaaS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50392" y="4050792"/>
            <a:ext cx="22311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5C6F6A"/>
                </a:solidFill>
              </a:rPr>
              <a:t>Monthly plans for clinics, hospitals, pharmacies, and labs based on users and modules.</a:t>
            </a:r>
            <a:endParaRPr lang="en-US" sz="1020" dirty="0"/>
          </a:p>
        </p:txBody>
      </p:sp>
      <p:sp>
        <p:nvSpPr>
          <p:cNvPr id="14" name="Shape 12"/>
          <p:cNvSpPr/>
          <p:nvPr/>
        </p:nvSpPr>
        <p:spPr>
          <a:xfrm>
            <a:off x="3520440" y="3063240"/>
            <a:ext cx="2560320" cy="150876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7E6D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85032" y="3246120"/>
            <a:ext cx="310896" cy="310896"/>
          </a:xfrm>
          <a:prstGeom prst="roundRect">
            <a:avLst>
              <a:gd name="adj" fmla="val 11765"/>
            </a:avLst>
          </a:prstGeom>
          <a:solidFill>
            <a:srgbClr val="F26F5B"/>
          </a:solidFill>
          <a:ln w="12700">
            <a:solidFill>
              <a:srgbClr val="F26F5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85032" y="3685032"/>
            <a:ext cx="2231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421"/>
                </a:solidFill>
              </a:rPr>
              <a:t>Transactions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685032" y="4050792"/>
            <a:ext cx="22311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5C6F6A"/>
                </a:solidFill>
              </a:rPr>
              <a:t>Small platform fee on paid bookings, pharmacy orders, lab orders, and teleconsultations.</a:t>
            </a:r>
            <a:endParaRPr lang="en-US" sz="1020" dirty="0"/>
          </a:p>
        </p:txBody>
      </p:sp>
      <p:sp>
        <p:nvSpPr>
          <p:cNvPr id="18" name="Shape 16"/>
          <p:cNvSpPr/>
          <p:nvPr/>
        </p:nvSpPr>
        <p:spPr>
          <a:xfrm>
            <a:off x="6355080" y="3063240"/>
            <a:ext cx="2560320" cy="150876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7E6D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19672" y="3246120"/>
            <a:ext cx="310896" cy="310896"/>
          </a:xfrm>
          <a:prstGeom prst="roundRect">
            <a:avLst>
              <a:gd name="adj" fmla="val 11765"/>
            </a:avLst>
          </a:prstGeom>
          <a:solidFill>
            <a:srgbClr val="F6BD43"/>
          </a:solidFill>
          <a:ln w="12700">
            <a:solidFill>
              <a:srgbClr val="F6BD4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19672" y="3685032"/>
            <a:ext cx="2231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421"/>
                </a:solidFill>
              </a:rPr>
              <a:t>Setup and training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519672" y="4050792"/>
            <a:ext cx="22311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5C6F6A"/>
                </a:solidFill>
              </a:rPr>
              <a:t>Onboarding, migration support, facility setup, staff training, and workflow configuration.</a:t>
            </a:r>
            <a:endParaRPr lang="en-US" sz="1020" dirty="0"/>
          </a:p>
        </p:txBody>
      </p:sp>
      <p:sp>
        <p:nvSpPr>
          <p:cNvPr id="22" name="Shape 20"/>
          <p:cNvSpPr/>
          <p:nvPr/>
        </p:nvSpPr>
        <p:spPr>
          <a:xfrm>
            <a:off x="9189720" y="3063240"/>
            <a:ext cx="2331720" cy="150876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7E6D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354312" y="3246120"/>
            <a:ext cx="310896" cy="310896"/>
          </a:xfrm>
          <a:prstGeom prst="roundRect">
            <a:avLst>
              <a:gd name="adj" fmla="val 11765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354312" y="3685032"/>
            <a:ext cx="20025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421"/>
                </a:solidFill>
              </a:rPr>
              <a:t>Partners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9354312" y="4050792"/>
            <a:ext cx="2002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5C6F6A"/>
                </a:solidFill>
              </a:rPr>
              <a:t>Employer care programs, insurance workflows, referral networks, and integrations.</a:t>
            </a:r>
            <a:endParaRPr lang="en-US" sz="1020" dirty="0"/>
          </a:p>
        </p:txBody>
      </p:sp>
      <p:sp>
        <p:nvSpPr>
          <p:cNvPr id="26" name="Shape 24"/>
          <p:cNvSpPr/>
          <p:nvPr/>
        </p:nvSpPr>
        <p:spPr>
          <a:xfrm>
            <a:off x="502920" y="6309360"/>
            <a:ext cx="11155680" cy="0"/>
          </a:xfrm>
          <a:prstGeom prst="line">
            <a:avLst/>
          </a:prstGeom>
          <a:noFill/>
          <a:ln w="12700">
            <a:solidFill>
              <a:srgbClr val="D7E6D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" y="6446520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C6F6A"/>
                </a:solidFill>
              </a:rPr>
              <a:t>Jubilee Med | Digital health made clear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5566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7B8C87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10896"/>
            <a:ext cx="420624" cy="420624"/>
          </a:xfrm>
          <a:prstGeom prst="roundRect">
            <a:avLst>
              <a:gd name="adj" fmla="val 15217"/>
            </a:avLst>
          </a:prstGeom>
          <a:solidFill>
            <a:srgbClr val="0B504B"/>
          </a:solidFill>
          <a:ln w="12700">
            <a:solidFill>
              <a:srgbClr val="0B50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85216" y="384048"/>
            <a:ext cx="256032" cy="256032"/>
          </a:xfrm>
          <a:prstGeom prst="ellipse">
            <a:avLst/>
          </a:prstGeom>
          <a:solidFill>
            <a:srgbClr val="DFF4EC"/>
          </a:solidFill>
          <a:ln w="12700">
            <a:solidFill>
              <a:srgbClr val="DFF4E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" y="448056"/>
            <a:ext cx="64008" cy="164592"/>
          </a:xfrm>
          <a:prstGeom prst="rect">
            <a:avLst/>
          </a:prstGeom>
          <a:solidFill>
            <a:srgbClr val="F26F5B"/>
          </a:solidFill>
          <a:ln w="12700">
            <a:solidFill>
              <a:srgbClr val="F26F5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35508" y="498348"/>
            <a:ext cx="164592" cy="64008"/>
          </a:xfrm>
          <a:prstGeom prst="rect">
            <a:avLst/>
          </a:prstGeom>
          <a:solidFill>
            <a:srgbClr val="F26F5B"/>
          </a:solidFill>
          <a:ln w="12700">
            <a:solidFill>
              <a:srgbClr val="F26F5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33272" y="36576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3242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Jubilee Med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58368" y="868680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26F5B"/>
                </a:solidFill>
              </a:rPr>
              <a:t>GO TO MARKET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40080" y="1170432"/>
            <a:ext cx="5074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3242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Win locally with focused pilots.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658368" y="2340864"/>
            <a:ext cx="4892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5C6F6A"/>
                </a:solidFill>
              </a:rPr>
              <a:t>The fastest route is to onboard care teams that already feel the pain of scattered tools and patient follow-up gaps.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85800" y="3200400"/>
            <a:ext cx="3246120" cy="1426464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D7E6D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50392" y="3401568"/>
            <a:ext cx="438912" cy="438912"/>
          </a:xfrm>
          <a:prstGeom prst="ellipse">
            <a:avLst/>
          </a:prstGeom>
          <a:solidFill>
            <a:srgbClr val="0B504B"/>
          </a:solidFill>
          <a:ln w="12700">
            <a:solidFill>
              <a:srgbClr val="0B504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9264" y="3511296"/>
            <a:ext cx="201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435608" y="3401568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421"/>
                </a:solidFill>
              </a:rPr>
              <a:t>Pilot facilities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435608" y="3749040"/>
            <a:ext cx="21762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5C6F6A"/>
                </a:solidFill>
              </a:rPr>
              <a:t>Start with selected clinics, pharmacies, and labs in one city to validate workflows.</a:t>
            </a:r>
            <a:endParaRPr lang="en-US" sz="960" dirty="0"/>
          </a:p>
        </p:txBody>
      </p:sp>
      <p:sp>
        <p:nvSpPr>
          <p:cNvPr id="15" name="Shape 13"/>
          <p:cNvSpPr/>
          <p:nvPr/>
        </p:nvSpPr>
        <p:spPr>
          <a:xfrm>
            <a:off x="4480560" y="3200400"/>
            <a:ext cx="3246120" cy="1426464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D7E6D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45152" y="3401568"/>
            <a:ext cx="438912" cy="438912"/>
          </a:xfrm>
          <a:prstGeom prst="ellipse">
            <a:avLst/>
          </a:prstGeom>
          <a:solidFill>
            <a:srgbClr val="F26F5B"/>
          </a:solidFill>
          <a:ln w="12700">
            <a:solidFill>
              <a:srgbClr val="F26F5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64024" y="3511296"/>
            <a:ext cx="201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230368" y="3401568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421"/>
                </a:solidFill>
              </a:rPr>
              <a:t>Patient acquisition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230368" y="3749040"/>
            <a:ext cx="21762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5C6F6A"/>
                </a:solidFill>
              </a:rPr>
              <a:t>Use provider referrals, community health campaigns, and clear app onboarding.</a:t>
            </a:r>
            <a:endParaRPr lang="en-US" sz="960" dirty="0"/>
          </a:p>
        </p:txBody>
      </p:sp>
      <p:sp>
        <p:nvSpPr>
          <p:cNvPr id="20" name="Shape 18"/>
          <p:cNvSpPr/>
          <p:nvPr/>
        </p:nvSpPr>
        <p:spPr>
          <a:xfrm>
            <a:off x="8275320" y="3200400"/>
            <a:ext cx="3246120" cy="1426464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D7E6D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439912" y="3401568"/>
            <a:ext cx="438912" cy="438912"/>
          </a:xfrm>
          <a:prstGeom prst="ellipse">
            <a:avLst/>
          </a:prstGeom>
          <a:solidFill>
            <a:srgbClr val="0B504B"/>
          </a:solidFill>
          <a:ln w="12700">
            <a:solidFill>
              <a:srgbClr val="0B504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558784" y="3511296"/>
            <a:ext cx="201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9025128" y="3401568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421"/>
                </a:solidFill>
              </a:rPr>
              <a:t>Partner growth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9025128" y="3749040"/>
            <a:ext cx="21762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5C6F6A"/>
                </a:solidFill>
              </a:rPr>
              <a:t>Add employer groups, diagnostics partners, pharmacies, and payment partnerships.</a:t>
            </a:r>
            <a:endParaRPr lang="en-US" sz="960" dirty="0"/>
          </a:p>
        </p:txBody>
      </p:sp>
      <p:sp>
        <p:nvSpPr>
          <p:cNvPr id="25" name="Shape 23"/>
          <p:cNvSpPr/>
          <p:nvPr/>
        </p:nvSpPr>
        <p:spPr>
          <a:xfrm>
            <a:off x="502920" y="6309360"/>
            <a:ext cx="11155680" cy="0"/>
          </a:xfrm>
          <a:prstGeom prst="line">
            <a:avLst/>
          </a:prstGeom>
          <a:noFill/>
          <a:ln w="12700">
            <a:solidFill>
              <a:srgbClr val="D7E6D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" y="6446520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C6F6A"/>
                </a:solidFill>
              </a:rPr>
              <a:t>Jubilee Med | Digital health made clear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5566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7B8C87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10896"/>
            <a:ext cx="420624" cy="420624"/>
          </a:xfrm>
          <a:prstGeom prst="roundRect">
            <a:avLst>
              <a:gd name="adj" fmla="val 15217"/>
            </a:avLst>
          </a:prstGeom>
          <a:solidFill>
            <a:srgbClr val="0B504B"/>
          </a:solidFill>
          <a:ln w="12700">
            <a:solidFill>
              <a:srgbClr val="0B50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85216" y="384048"/>
            <a:ext cx="256032" cy="256032"/>
          </a:xfrm>
          <a:prstGeom prst="ellipse">
            <a:avLst/>
          </a:prstGeom>
          <a:solidFill>
            <a:srgbClr val="DFF4EC"/>
          </a:solidFill>
          <a:ln w="12700">
            <a:solidFill>
              <a:srgbClr val="DFF4E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" y="448056"/>
            <a:ext cx="64008" cy="164592"/>
          </a:xfrm>
          <a:prstGeom prst="rect">
            <a:avLst/>
          </a:prstGeom>
          <a:solidFill>
            <a:srgbClr val="F26F5B"/>
          </a:solidFill>
          <a:ln w="12700">
            <a:solidFill>
              <a:srgbClr val="F26F5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35508" y="498348"/>
            <a:ext cx="164592" cy="64008"/>
          </a:xfrm>
          <a:prstGeom prst="rect">
            <a:avLst/>
          </a:prstGeom>
          <a:solidFill>
            <a:srgbClr val="F26F5B"/>
          </a:solidFill>
          <a:ln w="12700">
            <a:solidFill>
              <a:srgbClr val="F26F5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33272" y="36576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3242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Jubilee Med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58368" y="868680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26F5B"/>
                </a:solidFill>
              </a:rPr>
              <a:t>ROADMAP AND ASK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40080" y="1170432"/>
            <a:ext cx="5074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3242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Build, pilot, measure, and scale.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658368" y="2340864"/>
            <a:ext cx="4892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5C6F6A"/>
                </a:solidFill>
              </a:rPr>
              <a:t>Jubilee Med needs product completion, compliance review, pilot partners, and launch support to move from beta concept to live healthcare operations.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85800" y="2971800"/>
            <a:ext cx="3383280" cy="173736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D7E6D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50392" y="3154680"/>
            <a:ext cx="310896" cy="310896"/>
          </a:xfrm>
          <a:prstGeom prst="roundRect">
            <a:avLst>
              <a:gd name="adj" fmla="val 11765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0392" y="3593592"/>
            <a:ext cx="3054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421"/>
                </a:solidFill>
              </a:rPr>
              <a:t>Next 90 days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50392" y="3959352"/>
            <a:ext cx="30540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5C6F6A"/>
                </a:solidFill>
              </a:rPr>
              <a:t>Finalize beta, prepare provider onboarding, test appointment, EHR, pharmacy, lab, payment, and reporting flows.</a:t>
            </a:r>
            <a:endParaRPr lang="en-US" sz="1020" dirty="0"/>
          </a:p>
        </p:txBody>
      </p:sp>
      <p:sp>
        <p:nvSpPr>
          <p:cNvPr id="14" name="Shape 12"/>
          <p:cNvSpPr/>
          <p:nvPr/>
        </p:nvSpPr>
        <p:spPr>
          <a:xfrm>
            <a:off x="4434840" y="2971800"/>
            <a:ext cx="3383280" cy="173736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D7E6D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99432" y="3154680"/>
            <a:ext cx="310896" cy="310896"/>
          </a:xfrm>
          <a:prstGeom prst="roundRect">
            <a:avLst>
              <a:gd name="adj" fmla="val 11765"/>
            </a:avLst>
          </a:prstGeom>
          <a:solidFill>
            <a:srgbClr val="F26F5B"/>
          </a:solidFill>
          <a:ln w="12700">
            <a:solidFill>
              <a:srgbClr val="F26F5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99432" y="3593592"/>
            <a:ext cx="3054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421"/>
                </a:solidFill>
              </a:rPr>
              <a:t>Pilot goals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599432" y="3959352"/>
            <a:ext cx="30540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5C6F6A"/>
                </a:solidFill>
              </a:rPr>
              <a:t>Launch with early providers, monitor appointment volume, retention, payment success, and care follow-up.</a:t>
            </a:r>
            <a:endParaRPr lang="en-US" sz="1020" dirty="0"/>
          </a:p>
        </p:txBody>
      </p:sp>
      <p:sp>
        <p:nvSpPr>
          <p:cNvPr id="18" name="Shape 16"/>
          <p:cNvSpPr/>
          <p:nvPr/>
        </p:nvSpPr>
        <p:spPr>
          <a:xfrm>
            <a:off x="8183880" y="2971800"/>
            <a:ext cx="3383280" cy="173736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D7E6D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348472" y="3154680"/>
            <a:ext cx="310896" cy="310896"/>
          </a:xfrm>
          <a:prstGeom prst="roundRect">
            <a:avLst>
              <a:gd name="adj" fmla="val 11765"/>
            </a:avLst>
          </a:prstGeom>
          <a:solidFill>
            <a:srgbClr val="F6BD43"/>
          </a:solidFill>
          <a:ln w="12700">
            <a:solidFill>
              <a:srgbClr val="F6BD4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348472" y="3593592"/>
            <a:ext cx="3054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421"/>
                </a:solidFill>
              </a:rPr>
              <a:t>What we need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348472" y="3959352"/>
            <a:ext cx="30540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5C6F6A"/>
                </a:solidFill>
              </a:rPr>
              <a:t>Pilot partners, technical build support, compliance guidance, payment partnerships, and launch capital.</a:t>
            </a:r>
            <a:endParaRPr lang="en-US" sz="1020" dirty="0"/>
          </a:p>
        </p:txBody>
      </p:sp>
      <p:sp>
        <p:nvSpPr>
          <p:cNvPr id="22" name="Shape 20"/>
          <p:cNvSpPr/>
          <p:nvPr/>
        </p:nvSpPr>
        <p:spPr>
          <a:xfrm>
            <a:off x="685800" y="5230368"/>
            <a:ext cx="10881360" cy="566928"/>
          </a:xfrm>
          <a:prstGeom prst="roundRect">
            <a:avLst>
              <a:gd name="adj" fmla="val 9677"/>
            </a:avLst>
          </a:prstGeom>
          <a:solidFill>
            <a:srgbClr val="0B504B"/>
          </a:solidFill>
          <a:ln w="12700">
            <a:solidFill>
              <a:srgbClr val="0B504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60120" y="5440680"/>
            <a:ext cx="10241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hello@jubileemed.ng  |  +234 800 000 0000  |  Lagos, Nigeria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02920" y="6309360"/>
            <a:ext cx="11155680" cy="0"/>
          </a:xfrm>
          <a:prstGeom prst="line">
            <a:avLst/>
          </a:prstGeom>
          <a:noFill/>
          <a:ln w="12700">
            <a:solidFill>
              <a:srgbClr val="D7E6D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6446520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C6F6A"/>
                </a:solidFill>
              </a:rPr>
              <a:t>Jubilee Med | Digital health made clear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5566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7B8C87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Jubilee Med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Jubilee Med Pitch Deck</dc:title>
  <dc:subject>Jubilee Med digital health platform pitch deck</dc:subject>
  <dc:creator>Jubilee Med</dc:creator>
  <cp:lastModifiedBy>Jubilee Med</cp:lastModifiedBy>
  <cp:revision>1</cp:revision>
  <dcterms:created xsi:type="dcterms:W3CDTF">2026-04-29T10:16:54Z</dcterms:created>
  <dcterms:modified xsi:type="dcterms:W3CDTF">2026-04-29T10:16:54Z</dcterms:modified>
</cp:coreProperties>
</file>